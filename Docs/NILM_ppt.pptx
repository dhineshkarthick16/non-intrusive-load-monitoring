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75" r:id="rId8"/>
    <p:sldId id="263" r:id="rId9"/>
    <p:sldId id="271" r:id="rId10"/>
    <p:sldId id="264" r:id="rId11"/>
    <p:sldId id="272" r:id="rId12"/>
    <p:sldId id="266" r:id="rId13"/>
    <p:sldId id="267" r:id="rId14"/>
    <p:sldId id="273" r:id="rId15"/>
    <p:sldId id="274" r:id="rId16"/>
    <p:sldId id="269" r:id="rId17"/>
    <p:sldId id="277" r:id="rId18"/>
    <p:sldId id="278" r:id="rId19"/>
    <p:sldId id="276" r:id="rId20"/>
    <p:sldId id="270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588" autoAdjust="0"/>
    <p:restoredTop sz="90681" autoAdjust="0"/>
  </p:normalViewPr>
  <p:slideViewPr>
    <p:cSldViewPr>
      <p:cViewPr varScale="1">
        <p:scale>
          <a:sx n="54" d="100"/>
          <a:sy n="54" d="100"/>
        </p:scale>
        <p:origin x="52" y="5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08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9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59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0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7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9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8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2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8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6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7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8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9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4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55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0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6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extBox 4"/>
          <p:cNvSpPr txBox="1"/>
          <p:nvPr/>
        </p:nvSpPr>
        <p:spPr>
          <a:xfrm>
            <a:off x="152400" y="1047750"/>
            <a:ext cx="8539218" cy="827016"/>
          </a:xfrm>
          <a:prstGeom prst="rect">
            <a:avLst/>
          </a:prstGeom>
          <a:noFill/>
        </p:spPr>
        <p:txBody>
          <a:bodyPr wrap="square" lIns="87499" tIns="43749" rIns="87499" bIns="43749" rtlCol="0">
            <a:spAutoFit/>
          </a:bodyPr>
          <a:lstStyle/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Department of Electronics and Communication Engineering</a:t>
            </a:r>
          </a:p>
          <a:p>
            <a:pPr algn="ctr"/>
            <a:r>
              <a:rPr lang="en-US" sz="1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B.E – ECE ( 2 Year A Section)</a:t>
            </a:r>
          </a:p>
          <a:p>
            <a:pPr algn="ctr"/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PROJECT BASED LEARNING REVIEW 1  AY </a:t>
            </a:r>
            <a:r>
              <a:rPr lang="en-US" sz="1600" b="1" u="sng" dirty="0">
                <a:latin typeface="Times New Roman" pitchFamily="18" charset="0"/>
                <a:cs typeface="Times New Roman" pitchFamily="18" charset="0"/>
              </a:rPr>
              <a:t>2026-27 ODD SEMESTER</a:t>
            </a:r>
          </a:p>
        </p:txBody>
      </p:sp>
      <p:graphicFrame>
        <p:nvGraphicFramePr>
          <p:cNvPr id="4194304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965020"/>
              </p:ext>
            </p:extLst>
          </p:nvPr>
        </p:nvGraphicFramePr>
        <p:xfrm>
          <a:off x="152400" y="3257550"/>
          <a:ext cx="8839200" cy="181356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Presented</a:t>
                      </a:r>
                      <a:r>
                        <a:rPr lang="en-US" sz="1600" i="1" baseline="0" dirty="0">
                          <a:latin typeface="Times New Roman" pitchFamily="18" charset="0"/>
                          <a:cs typeface="Times New Roman" pitchFamily="18" charset="0"/>
                        </a:rPr>
                        <a:t> By</a:t>
                      </a:r>
                      <a:endParaRPr lang="en-US" sz="1600" b="1" i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Times New Roman" pitchFamily="18" charset="0"/>
                          <a:cs typeface="Times New Roman" pitchFamily="18" charset="0"/>
                        </a:rPr>
                        <a:t>           Under the Mentoring of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Mentor – (Company)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w Cen MT Condensed Extra Bold" panose="020B0803020202020204" pitchFamily="34" charset="0"/>
                          <a:cs typeface="Times New Roman" pitchFamily="18" charset="0"/>
                        </a:rPr>
                        <a:t>Dhinesh Karthick D</a:t>
                      </a:r>
                    </a:p>
                    <a:p>
                      <a:r>
                        <a:rPr lang="en-US" sz="1400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w Cen MT Condensed Extra Bold" panose="020B0803020202020204" pitchFamily="34" charset="0"/>
                          <a:cs typeface="Times New Roman" pitchFamily="18" charset="0"/>
                        </a:rPr>
                        <a:t>Manickavel C</a:t>
                      </a:r>
                      <a:r>
                        <a:rPr lang="en-US" sz="14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Tw Cen MT Condensed Extra Bold" panose="020B0803020202020204" pitchFamily="34" charset="0"/>
                          <a:cs typeface="Times New Roman" pitchFamily="18" charset="0"/>
                        </a:rPr>
                        <a:t> </a:t>
                      </a:r>
                    </a:p>
                  </a:txBody>
                  <a:tcPr marT="34290" marB="34290"/>
                </a:tc>
                <a:tc rowSpan="2"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210425106049</a:t>
                      </a:r>
                    </a:p>
                    <a:p>
                      <a:r>
                        <a:rPr lang="en-US" sz="1400" dirty="0">
                          <a:solidFill>
                            <a:srgbClr val="C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210425106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[Mentor Name]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Post:</a:t>
                      </a:r>
                    </a:p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Mail</a:t>
                      </a:r>
                      <a:r>
                        <a:rPr lang="en-US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 ID:</a:t>
                      </a:r>
                    </a:p>
                    <a:p>
                      <a:pPr algn="l"/>
                      <a:r>
                        <a:rPr lang="en-US" sz="1400" baseline="0" dirty="0">
                          <a:latin typeface="Times New Roman" pitchFamily="18" charset="0"/>
                          <a:cs typeface="Times New Roman" pitchFamily="18" charset="0"/>
                        </a:rPr>
                        <a:t>Mob :</a:t>
                      </a:r>
                      <a:endParaRPr lang="en-US" sz="14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 vMerge="1">
                  <a:txBody>
                    <a:bodyPr/>
                    <a:lstStyle/>
                    <a:p>
                      <a:endParaRPr lang="en-US" sz="1400" dirty="0">
                        <a:solidFill>
                          <a:schemeClr val="bg1">
                            <a:lumMod val="6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Assistant Professor / </a:t>
                      </a:r>
                    </a:p>
                    <a:p>
                      <a:pPr algn="ctr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ECE Department/CIT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Contact Details: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48587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5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959458"/>
              </p:ext>
            </p:extLst>
          </p:nvPr>
        </p:nvGraphicFramePr>
        <p:xfrm>
          <a:off x="152400" y="1962150"/>
          <a:ext cx="8839200" cy="1295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883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072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68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                   </a:t>
                      </a:r>
                    </a:p>
                    <a:p>
                      <a:pPr algn="ctr"/>
                      <a:r>
                        <a:rPr lang="en-IN" sz="2000" b="1" dirty="0"/>
                        <a:t>On-Device Non-Intrusive Load Monitoring (NILM) using ESP32 and a Single CT Sensor</a:t>
                      </a:r>
                      <a:r>
                        <a:rPr lang="en-US" sz="2000" b="1" dirty="0">
                          <a:latin typeface="Times New Roman" pitchFamily="18" charset="0"/>
                          <a:cs typeface="Times New Roman" pitchFamily="18" charset="0"/>
                        </a:rPr>
                        <a:t>                      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88" name="Frame 15"/>
          <p:cNvSpPr/>
          <p:nvPr/>
        </p:nvSpPr>
        <p:spPr>
          <a:xfrm>
            <a:off x="0" y="0"/>
            <a:ext cx="9144000" cy="1123950"/>
          </a:xfrm>
          <a:prstGeom prst="frame">
            <a:avLst>
              <a:gd name="adj1" fmla="val 6750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8763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133350"/>
            <a:ext cx="1295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6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9661929"/>
              </p:ext>
            </p:extLst>
          </p:nvPr>
        </p:nvGraphicFramePr>
        <p:xfrm>
          <a:off x="1142999" y="0"/>
          <a:ext cx="8001001" cy="85469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7768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6923"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ABSTRACT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4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0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0479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r>
                        <a:rPr lang="en-US" sz="1050" baseline="0" dirty="0"/>
                        <a:t> 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REVIEW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48595" name="Frame 10"/>
          <p:cNvSpPr/>
          <p:nvPr/>
        </p:nvSpPr>
        <p:spPr>
          <a:xfrm>
            <a:off x="0" y="0"/>
            <a:ext cx="1143000" cy="8191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6" name="Content Placeholder 7"/>
          <p:cNvSpPr>
            <a:spLocks noGrp="1"/>
          </p:cNvSpPr>
          <p:nvPr>
            <p:ph idx="1"/>
          </p:nvPr>
        </p:nvSpPr>
        <p:spPr>
          <a:xfrm>
            <a:off x="457200" y="1200151"/>
            <a:ext cx="8534400" cy="3394472"/>
          </a:xfrm>
        </p:spPr>
        <p:txBody>
          <a:bodyPr>
            <a:normAutofit/>
          </a:bodyPr>
          <a:lstStyle/>
          <a:p>
            <a:pPr algn="just">
              <a:spcBef>
                <a:spcPct val="30000"/>
              </a:spcBef>
              <a:spcAft>
                <a:spcPct val="300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Non-Intrusive Load Monitoring (NILM) identifies which appliance is running from a single sensing point instead of per-appliance meters.</a:t>
            </a:r>
          </a:p>
          <a:p>
            <a:pPr algn="just">
              <a:spcBef>
                <a:spcPct val="30000"/>
              </a:spcBef>
              <a:spcAft>
                <a:spcPct val="300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builds a fully on-device, cloud-free NILM system on ESP32, using one CT sensor and a nearest-neighbor classifier with unknown-appliance rejection.</a:t>
            </a:r>
          </a:p>
          <a:p>
            <a:pPr algn="just">
              <a:spcBef>
                <a:spcPct val="30000"/>
              </a:spcBef>
              <a:spcAft>
                <a:spcPct val="30000"/>
              </a:spcAf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Novelty: closes the reproducibility gap between MCU-deployable NILM theory and measured performance on commodity ESP32 hardware (existing work either stays in simulation or uses custom research-grade boards).</a:t>
            </a:r>
          </a:p>
          <a:p>
            <a:pPr algn="just">
              <a:spcBef>
                <a:spcPct val="30000"/>
              </a:spcBef>
              <a:spcAft>
                <a:spcPct val="30000"/>
              </a:spcAft>
            </a:pPr>
            <a:r>
              <a:rPr sz="1600" b="1">
                <a:latin typeface="Times New Roman"/>
              </a:rPr>
              <a:t>Target: 4-5 known appliances classified in real time from transient switch-on waveforms, displayed on an I2C LCD.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ct val="30000"/>
              </a:spcBef>
              <a:spcAft>
                <a:spcPct val="30000"/>
              </a:spcAft>
            </a:pP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7" name="Frame 8"/>
          <p:cNvSpPr/>
          <p:nvPr/>
        </p:nvSpPr>
        <p:spPr>
          <a:xfrm>
            <a:off x="1143000" y="0"/>
            <a:ext cx="8001000" cy="8191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83472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30417689"/>
              </p:ext>
            </p:extLst>
          </p:nvPr>
        </p:nvGraphicFramePr>
        <p:xfrm>
          <a:off x="1142999" y="0"/>
          <a:ext cx="8001001" cy="9144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249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5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Outcomes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598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599" name="Frame 10"/>
          <p:cNvSpPr/>
          <p:nvPr/>
        </p:nvSpPr>
        <p:spPr>
          <a:xfrm>
            <a:off x="0" y="0"/>
            <a:ext cx="1143000" cy="8953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10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0843872"/>
              </p:ext>
            </p:extLst>
          </p:nvPr>
        </p:nvGraphicFramePr>
        <p:xfrm>
          <a:off x="152400" y="1200151"/>
          <a:ext cx="8839200" cy="338991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713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3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9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S. No 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Base Papers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Problem</a:t>
                      </a:r>
                      <a:r>
                        <a:rPr lang="en-US" sz="1100" b="1" i="0" u="none" strike="noStrike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Identified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u="none" strike="noStrike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Remarks</a:t>
                      </a:r>
                      <a:r>
                        <a:rPr lang="en-US" sz="1100" b="1" u="none" strike="noStrike" baseline="0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Solutions/Modifications/Suggestions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770">
                <a:tc>
                  <a:txBody>
                    <a:bodyPr/>
                    <a:lstStyle/>
                    <a:p>
                      <a:pPr marL="904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Times New Roman"/>
                        </a:rPr>
                        <a:t>1</a:t>
                      </a:r>
                    </a:p>
                  </a:txBody>
                  <a:tcPr marL="0" marR="0" marT="37465" marB="0" horzOverflow="overflow"/>
                </a:tc>
                <a:tc>
                  <a:txBody>
                    <a:bodyPr/>
                    <a:lstStyle/>
                    <a:p>
                      <a:pPr marL="119062" indent="0" algn="just">
                        <a:spcBef>
                          <a:spcPct val="30000"/>
                        </a:spcBef>
                        <a:spcAft>
                          <a:spcPct val="30000"/>
                        </a:spcAft>
                        <a:buFont typeface="Wingdings 2" pitchFamily="18" charset="2"/>
                        <a:buNone/>
                      </a:pPr>
                      <a:r>
                        <a:rPr sz="1050">
                          <a:latin typeface="Times New Roman"/>
                        </a:rPr>
                        <a:t>Hart (1992) - Nonintrusive Appliance Load Monitoring</a:t>
                      </a:r>
                      <a:endParaRPr 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9062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30000"/>
                        </a:spcBef>
                        <a:spcAft>
                          <a:spcPct val="30000"/>
                        </a:spcAft>
                        <a:buClrTx/>
                        <a:buSzTx/>
                        <a:buFont typeface="Wingdings 2" pitchFamily="18" charset="2"/>
                        <a:buNone/>
                      </a:pPr>
                      <a:r>
                        <a:rPr sz="1050">
                          <a:latin typeface="Times New Roman"/>
                        </a:rPr>
                        <a:t>No handling of unknown/variable loads; struggles with overlapping transitions</a:t>
                      </a:r>
                      <a:endParaRPr lang="en-US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114300" marR="0" indent="0" algn="just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Times New Roman"/>
                        </a:rPr>
                        <a:t>Add nearest-neighbor classifier with explicit unknown-appliance rejection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7670">
                <a:tc>
                  <a:txBody>
                    <a:bodyPr/>
                    <a:lstStyle/>
                    <a:p>
                      <a:pPr marL="904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Times New Roman"/>
                        </a:rPr>
                        <a:t>2</a:t>
                      </a:r>
                    </a:p>
                  </a:txBody>
                  <a:tcPr marL="0" marR="0" marT="37465" marB="0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sz="1050">
                          <a:latin typeface="Times New Roman"/>
                        </a:rPr>
                        <a:t>Tabanelli et al. (2021) - Trimmed Features for MCU-Based Edge NILM</a:t>
                      </a:r>
                      <a:endParaRPr lang="en-US" sz="1100" b="1" i="0" u="none" strike="noStrike" kern="120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Times New Roman"/>
                        </a:rPr>
                        <a:t>Only real MCU benchmark in the field, but uses a custom research-grade board, not reproducible</a:t>
                      </a:r>
                      <a:endParaRPr lang="en-US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14300" indent="0" algn="just" rtl="0" fontAlgn="ctr"/>
                      <a:r>
                        <a:rPr sz="1050">
                          <a:latin typeface="Times New Roman"/>
                        </a:rPr>
                        <a:t>Reproduce the current-only-sensing result on commodity ESP32 + CT sensor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1384">
                <a:tc>
                  <a:txBody>
                    <a:bodyPr/>
                    <a:lstStyle/>
                    <a:p>
                      <a:pPr marL="90488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Times New Roman"/>
                        </a:rPr>
                        <a:t>3</a:t>
                      </a:r>
                    </a:p>
                  </a:txBody>
                  <a:tcPr marL="0" marR="0" marT="38100" marB="0" horzOverflow="overflow"/>
                </a:tc>
                <a:tc>
                  <a:txBody>
                    <a:bodyPr/>
                    <a:lstStyle/>
                    <a:p>
                      <a:pPr algn="just"/>
                      <a:r>
                        <a:rPr sz="1050">
                          <a:latin typeface="Times New Roman"/>
                        </a:rPr>
                        <a:t>Volker &amp; Becker et al. (2021) - Feature and Classifier Study</a:t>
                      </a:r>
                      <a:endParaRPr lang="en-US" sz="1100" b="1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latin typeface="Times New Roman"/>
                        </a:rPr>
                        <a:t>F1 up to 0.98 but tested only on curated datasets, no real MCU hardware</a:t>
                      </a:r>
                      <a:endParaRPr lang="en-US" altLang="en-US" sz="11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14300" indent="0" algn="just" rtl="0" fontAlgn="ctr"/>
                      <a:r>
                        <a:rPr sz="1050">
                          <a:latin typeface="Times New Roman"/>
                        </a:rPr>
                        <a:t>Validate the same feature philosophy live, on real noisy household mains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6814" marR="6814" marT="6814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48600" name="Frame 8"/>
          <p:cNvSpPr/>
          <p:nvPr/>
        </p:nvSpPr>
        <p:spPr>
          <a:xfrm>
            <a:off x="1143000" y="0"/>
            <a:ext cx="8001000" cy="8953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0409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0135072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PBL 1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3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1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8884221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dirty="0"/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Objectives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1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2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4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813944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4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4312" name="TextBox 4194311"/>
          <p:cNvSpPr txBox="1"/>
          <p:nvPr/>
        </p:nvSpPr>
        <p:spPr>
          <a:xfrm>
            <a:off x="300000" y="1150000"/>
            <a:ext cx="8544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Build a single-CT-sensor, ESP32-based NILM system that runs fully on-device with zero cloud dependency.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Reliably capture appliance switch-on transients using zero-cross-referenced sampling.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Extract lightweight features (peak amplitude, rise time, settling time) suited to MCU compute/memory budgets.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Classify 4-5 known appliances with a nearest-neighbor classifier, and explicitly reject unknown appliances.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Measure and report real, on-device accuracy (not simulated) - closing the gap most published NILM work leaves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3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96230662"/>
              </p:ext>
            </p:extLst>
          </p:nvPr>
        </p:nvGraphicFramePr>
        <p:xfrm>
          <a:off x="1142999" y="0"/>
          <a:ext cx="8001001" cy="109021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6652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6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09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Problem Statements Identified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5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6" name="Frame 10"/>
          <p:cNvSpPr/>
          <p:nvPr/>
        </p:nvSpPr>
        <p:spPr>
          <a:xfrm>
            <a:off x="0" y="0"/>
            <a:ext cx="1143000" cy="102870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07" name="Content Placeholder 8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>
            <a:noAutofit/>
          </a:bodyPr>
          <a:lstStyle/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8" name="Frame 9"/>
          <p:cNvSpPr/>
          <p:nvPr/>
        </p:nvSpPr>
        <p:spPr>
          <a:xfrm>
            <a:off x="1143000" y="0"/>
            <a:ext cx="8001000" cy="10477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98117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4314" name="TextBox 4194313"/>
          <p:cNvSpPr txBox="1"/>
          <p:nvPr/>
        </p:nvSpPr>
        <p:spPr>
          <a:xfrm>
            <a:off x="300000" y="1150000"/>
            <a:ext cx="8544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Household appliance-level energy visibility normally needs a smart plug per appliance - expensive and intrusive to install.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High-accuracy NILM methods (deep learning) are validated only on GPU-class compute, never proven on low-cost MCUs.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Published MCU-adjacent NILM work either simulates model size or uses custom research-grade boards - not reproducible by a student on commodity hardware.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Almost all existing methods assume a closed, pre-trained appliance set with no graceful handling of an unknown appliance.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5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4644372"/>
              </p:ext>
            </p:extLst>
          </p:nvPr>
        </p:nvGraphicFramePr>
        <p:xfrm>
          <a:off x="1142999" y="0"/>
          <a:ext cx="8001001" cy="1022567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7623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6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9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SOLUTIONS / MODIFICATIONS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0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2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17749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4316" name="TextBox 4194315"/>
          <p:cNvSpPr txBox="1"/>
          <p:nvPr/>
        </p:nvSpPr>
        <p:spPr>
          <a:xfrm>
            <a:off x="300000" y="1150000"/>
            <a:ext cx="8544000" cy="3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Use current-only sensing (single CT clamp, no voltage sensor beyond a zero-cross reference) to minimize cost and install complexity.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Replace heavy deep-learning classifiers with a nearest-neighbor classifier over 3 lightweight transient features - fits ESP32 RAM/compute budget.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Add an explicit distance-threshold rejection so an unrecognized appliance is reported as 'Unknown' instead of a wrong guess.</a:t>
            </a:r>
          </a:p>
          <a:p>
            <a:pPr>
              <a:spcAft>
                <a:spcPts val="800"/>
              </a:spcAft>
              <a:defRPr sz="1500">
                <a:solidFill>
                  <a:srgbClr val="2B2B2B"/>
                </a:solidFill>
                <a:latin typeface="Times New Roman"/>
              </a:defRPr>
            </a:pPr>
            <a:r>
              <a:t>•  Validate on real household mains with repeated trials and a confusion matrix, instead of reporting a single lab-condition accuracy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348953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Subjects Integration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095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8052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18" name="Table 4194317"/>
          <p:cNvGraphicFramePr>
            <a:graphicFrameLocks noGrp="1"/>
          </p:cNvGraphicFramePr>
          <p:nvPr/>
        </p:nvGraphicFramePr>
        <p:xfrm>
          <a:off x="300000" y="1150000"/>
          <a:ext cx="8543999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6153"/>
                <a:gridCol w="5257846"/>
              </a:tblGrid>
              <a:tr h="4714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Coursework Subject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Application in this Project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Electronic Devices &amp; Circuits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CT sensor biasing, LM358 buffer and gain-stage design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Digital 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Zero-cross detection logic, GPIO interrupt handling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EMF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Understanding CT sensor's transformer-coupling principle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Microprocessors &amp; Microcontrollers (MPMC)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ESP32 ADC sampling, interrupts, timers, I2C LCD interfacing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C / Embedded C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Firmware: sampling loop, feature extraction, classifier logic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4714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Mathematical Methods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Euclidean distance nearest-neighbor classification, thresholding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29430653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Components Purchased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729889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381000" y="1123950"/>
            <a:ext cx="6324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ESP32 dev board</a:t>
            </a:r>
          </a:p>
          <a:p>
            <a:r>
              <a:rPr lang="en-US" dirty="0"/>
              <a:t>SCT-013-100A/1V current transformer (CT) sensor</a:t>
            </a:r>
          </a:p>
          <a:p>
            <a:r>
              <a:rPr lang="en-US" dirty="0"/>
              <a:t>z</a:t>
            </a:r>
            <a:endParaRPr lang="en-IN" dirty="0"/>
          </a:p>
          <a:p>
            <a:r>
              <a:rPr sz="1400" b="1">
                <a:latin typeface="Times New Roman"/>
              </a:rPr>
              <a:t>4N35 opto-isolator (zero-cross detection)</a:t>
            </a:r>
          </a:p>
          <a:p>
            <a:r>
              <a:rPr sz="1400" b="1">
                <a:latin typeface="Times New Roman"/>
              </a:rPr>
              <a:t>TRRS 3.5mm audio jack breakout (CT signal connector)</a:t>
            </a:r>
          </a:p>
          <a:p>
            <a:r>
              <a:rPr sz="1400" b="1">
                <a:latin typeface="Times New Roman"/>
              </a:rPr>
              <a:t>10µF capacitor, 1N4148 diodes, resistor assortment</a:t>
            </a:r>
          </a:p>
          <a:p>
            <a:r>
              <a:rPr sz="1400" b="1">
                <a:latin typeface="Times New Roman"/>
              </a:rPr>
              <a:t>I2C 16x2 LCD module with PCF8574 backpack</a:t>
            </a:r>
          </a:p>
          <a:p>
            <a:r>
              <a:rPr sz="1400" b="1">
                <a:latin typeface="Times New Roman"/>
              </a:rPr>
              <a:t>Breadboard, jumper wires, soldering kit, multimeter</a:t>
            </a:r>
          </a:p>
        </p:txBody>
      </p:sp>
      <p:sp>
        <p:nvSpPr>
          <p:cNvPr id="4194318" name="Rectangle 4194317"/>
          <p:cNvSpPr/>
          <p:nvPr/>
        </p:nvSpPr>
        <p:spPr>
          <a:xfrm>
            <a:off x="6300000" y="1150000"/>
            <a:ext cx="2500000" cy="3300000"/>
          </a:xfrm>
          <a:prstGeom prst="rect">
            <a:avLst/>
          </a:prstGeom>
          <a:noFill/>
          <a:ln w="15875">
            <a:solidFill>
              <a:srgbClr val="6B6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B6A65"/>
                </a:solidFill>
              </a:defRPr>
            </a:pPr>
            <a:r>
              <a:t>Paste photo of</a:t>
            </a:r>
            <a:br/>
            <a:r>
              <a:t>purchased components here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7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550539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Procurement Status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1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1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1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01212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9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18" name="Table 4194317"/>
          <p:cNvGraphicFramePr>
            <a:graphicFrameLocks noGrp="1"/>
          </p:cNvGraphicFramePr>
          <p:nvPr/>
        </p:nvGraphicFramePr>
        <p:xfrm>
          <a:off x="300000" y="1150000"/>
          <a:ext cx="8543999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909"/>
                <a:gridCol w="1941818"/>
                <a:gridCol w="3495272"/>
              </a:tblGrid>
              <a:tr h="550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Component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Notes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ESP32, CT sensor, LM358, opto, LCD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Procured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In hand, on breadboard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10k / 100k / 1k / 100 ohm resistors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Procured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Full resistor set 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3.5mm TRRS breakout board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Procured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Labeled Tip/Ring/Sleeve pins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Multimeter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Procured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Available for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Enclosure / junction box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Procured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Ready for Phase 6 integration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7855445"/>
              </p:ext>
            </p:extLst>
          </p:nvPr>
        </p:nvGraphicFramePr>
        <p:xfrm>
          <a:off x="1142999" y="0"/>
          <a:ext cx="8001001" cy="895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Overall System Architecture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0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1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651498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10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19" name="Picture 4194318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538" y="1050000"/>
            <a:ext cx="6826923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18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8349645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Circuit Diagrams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0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1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2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13848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11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19" name="Picture 4194318" descr="circu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00" y="1421000"/>
            <a:ext cx="5400000" cy="2808000"/>
          </a:xfrm>
          <a:prstGeom prst="rect">
            <a:avLst/>
          </a:prstGeom>
        </p:spPr>
      </p:pic>
      <p:sp>
        <p:nvSpPr>
          <p:cNvPr id="4194320" name="Rectangle 4194319"/>
          <p:cNvSpPr/>
          <p:nvPr/>
        </p:nvSpPr>
        <p:spPr>
          <a:xfrm>
            <a:off x="5850000" y="1150000"/>
            <a:ext cx="2950000" cy="3300000"/>
          </a:xfrm>
          <a:prstGeom prst="rect">
            <a:avLst/>
          </a:prstGeom>
          <a:noFill/>
          <a:ln w="15875">
            <a:solidFill>
              <a:srgbClr val="6B6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B6A65"/>
                </a:solidFill>
              </a:defRPr>
            </a:pPr>
            <a:r>
              <a:t>Paste breadboard photo /</a:t>
            </a:r>
            <a:br/>
            <a:r>
              <a:t>full schematic screenshot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2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1327390"/>
              </p:ext>
            </p:extLst>
          </p:nvPr>
        </p:nvGraphicFramePr>
        <p:xfrm>
          <a:off x="1142999" y="0"/>
          <a:ext cx="8001001" cy="895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/>
                        <a:t>Title 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Algorithm / Flowchart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27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8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29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2095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61465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12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23" name="Picture 4194322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056" y="1050000"/>
            <a:ext cx="2563888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24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6511967"/>
              </p:ext>
            </p:extLst>
          </p:nvPr>
        </p:nvGraphicFramePr>
        <p:xfrm>
          <a:off x="1142999" y="0"/>
          <a:ext cx="8001001" cy="89535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Title </a:t>
                      </a: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Software Development Status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3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34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35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194326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28760"/>
              </p:ext>
            </p:extLst>
          </p:nvPr>
        </p:nvGraphicFramePr>
        <p:xfrm>
          <a:off x="152400" y="1047750"/>
          <a:ext cx="8763000" cy="33655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7312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7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 fontAlgn="ctr"/>
                      <a:r>
                        <a:rPr sz="1150" b="1">
                          <a:latin typeface="Times New Roman"/>
                        </a:rPr>
                        <a:t>Software Module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50" b="1">
                          <a:latin typeface="Times New Roman"/>
                        </a:rPr>
                        <a:t>Status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150" b="1">
                          <a:latin typeface="Times New Roman"/>
                        </a:rPr>
                        <a:t>% Complete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Nearest-neighbor classifier logic (with unknown rejection)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Working - tested on fake fingerprint data, real data integration in progress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90%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ESP32 firmware skeleton (Arduino/C++)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Written, compiled, and running on hardware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85%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I2C LCD integration (confidence % display)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Working, tested with dummy data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80%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Web dashboard (fake-data visualization)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Built and working (HTML)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100%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ADC continuous sampling firmware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In progress - sampling loop implemented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60%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Zero-cross interrupt handler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In progress - interrupt handler drafted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60%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Feature extraction (peak/rise/settle)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In progress - initial feature extraction working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55%</a:t>
                      </a:r>
                      <a:endParaRPr lang="zh-CN" altLang="en-US" dirty="0"/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Calibration data collection scripts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In progress - scripts drafted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40%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Field-testing / confusion matrix logging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Planned for next testing cycle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30%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8450">
                <a:tc>
                  <a:txBody>
                    <a:bodyPr/>
                    <a:lstStyle/>
                    <a:p>
                      <a:pPr algn="ctr" fontAlgn="ctr"/>
                      <a:r>
                        <a:rPr sz="1050" b="0">
                          <a:latin typeface="Times New Roman"/>
                        </a:rPr>
                        <a:t>GitHub repository setup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Repository created, initial commit done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sz="1050">
                          <a:solidFill>
                            <a:srgbClr val="2B2B2B"/>
                          </a:solidFill>
                          <a:latin typeface="Times New Roman"/>
                        </a:rPr>
                        <a:t>50%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855697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PBL 1</a:t>
                      </a: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13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6956345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Hardware Development Status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133350"/>
            <a:ext cx="971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920500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14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94331" name="Table 4194330"/>
          <p:cNvGraphicFramePr>
            <a:graphicFrameLocks noGrp="1"/>
          </p:cNvGraphicFramePr>
          <p:nvPr/>
        </p:nvGraphicFramePr>
        <p:xfrm>
          <a:off x="300000" y="1150000"/>
          <a:ext cx="8543999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7473"/>
                <a:gridCol w="4946526"/>
              </a:tblGrid>
              <a:tr h="36666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Hardware Block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CT sensor + bias divider + LM358 gain stage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Working - verified with multimeter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TRRS jack -&gt; breadboard wiring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Zero-cross opto (4N35) circuit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Complete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36666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ESP32 + I2C LCD wiring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667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Full analog front-end verification (scope/multimeter)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Verified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</a:tbl>
          </a:graphicData>
        </a:graphic>
      </p:graphicFrame>
      <p:sp>
        <p:nvSpPr>
          <p:cNvPr id="4194332" name="Rectangle 4194331"/>
          <p:cNvSpPr/>
          <p:nvPr/>
        </p:nvSpPr>
        <p:spPr>
          <a:xfrm>
            <a:off x="300000" y="3450000"/>
            <a:ext cx="8544000" cy="1150000"/>
          </a:xfrm>
          <a:prstGeom prst="rect">
            <a:avLst/>
          </a:prstGeom>
          <a:noFill/>
          <a:ln w="15875">
            <a:solidFill>
              <a:srgbClr val="6B6A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i="1">
                <a:solidFill>
                  <a:srgbClr val="6B6A65"/>
                </a:solidFill>
              </a:defRPr>
            </a:pPr>
            <a:r>
              <a:t>Paste current breadboard / wiring progress photos 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40546546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Timeline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288309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15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31" name="Picture 4194330" descr="time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000" y="1050000"/>
            <a:ext cx="7810000" cy="355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30" name="Content Placeholder 1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0137971"/>
              </p:ext>
            </p:extLst>
          </p:nvPr>
        </p:nvGraphicFramePr>
        <p:xfrm>
          <a:off x="1142999" y="0"/>
          <a:ext cx="8001001" cy="95491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001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8594">
                <a:tc>
                  <a:txBody>
                    <a:bodyPr/>
                    <a:lstStyle/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sz="1400" dirty="0"/>
                    </a:p>
                    <a:p>
                      <a:pPr marL="0" marR="0" indent="0" algn="ctr" defTabSz="104492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Title 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75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Project Completion Percentage</a:t>
                      </a:r>
                      <a:endParaRPr lang="en-US" sz="1800" b="1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48639" name="Frame 4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148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0" name="Frame 10"/>
          <p:cNvSpPr/>
          <p:nvPr/>
        </p:nvSpPr>
        <p:spPr>
          <a:xfrm>
            <a:off x="0" y="0"/>
            <a:ext cx="1143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48641" name="Frame 9"/>
          <p:cNvSpPr/>
          <p:nvPr/>
        </p:nvSpPr>
        <p:spPr>
          <a:xfrm>
            <a:off x="1143000" y="0"/>
            <a:ext cx="8001000" cy="971550"/>
          </a:xfrm>
          <a:prstGeom prst="frame">
            <a:avLst>
              <a:gd name="adj1" fmla="val 2877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0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837206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194331" name="Picture 4194330" descr="completion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00" y="1325000"/>
            <a:ext cx="3600000" cy="3000000"/>
          </a:xfrm>
          <a:prstGeom prst="rect">
            <a:avLst/>
          </a:prstGeom>
        </p:spPr>
      </p:pic>
      <p:graphicFrame>
        <p:nvGraphicFramePr>
          <p:cNvPr id="4194332" name="Table 4194331"/>
          <p:cNvGraphicFramePr>
            <a:graphicFrameLocks noGrp="1"/>
          </p:cNvGraphicFramePr>
          <p:nvPr/>
        </p:nvGraphicFramePr>
        <p:xfrm>
          <a:off x="4100000" y="1150000"/>
          <a:ext cx="4699999" cy="33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333"/>
                <a:gridCol w="1566666"/>
              </a:tblGrid>
              <a:tr h="4714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Phase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% Complete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1. Sensing Hardware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100%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2. Zero-Cross + Transient Capture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3. Feature Extraction &amp; Calibration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40%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4. On-Device Classification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14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5. Rigorous Testing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20%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47143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6. Integration &amp;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B2B2B"/>
                          </a:solidFill>
                          <a:latin typeface="Times New Roman"/>
                        </a:rPr>
                        <a:t>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Team Member Responsibilities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216755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17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0000" y="1400000"/>
          <a:ext cx="8543999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05"/>
                <a:gridCol w="5845894"/>
              </a:tblGrid>
              <a:tr h="733333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Responsibilities</a:t>
                      </a:r>
                    </a:p>
                  </a:txBody>
                  <a:tcPr>
                    <a:solidFill>
                      <a:srgbClr val="C00000"/>
                    </a:solidFill>
                  </a:tcPr>
                </a:tc>
              </a:tr>
              <a:tr h="73333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Dhinesh Karthick D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Hardware design (CT sensor, bias/gain circuit, zero-cross opto), ESP32 firmware, feature extraction, classifier implementation, LCD/dashboard integration</a:t>
                      </a:r>
                    </a:p>
                  </a:txBody>
                  <a:tcPr>
                    <a:solidFill>
                      <a:srgbClr val="FBE5E5"/>
                    </a:solidFill>
                  </a:tcPr>
                </a:tc>
              </a:tr>
              <a:tr h="73333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Manickavel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B2B2B"/>
                          </a:solidFill>
                          <a:latin typeface="Times New Roman"/>
                        </a:defRPr>
                      </a:pPr>
                      <a:r>
                        <a:t>Calibration data collection, appliance testing, documentation, GitHub repository maintenance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Next Milestone (Review 2)</a:t>
            </a:r>
            <a:endParaRPr lang="en-US" u="sng" dirty="0"/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074664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18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00000" y="1400000"/>
            <a:ext cx="8544000" cy="2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B2B2B"/>
                </a:solidFill>
                <a:latin typeface="Times New Roman"/>
              </a:defRPr>
            </a:pPr>
            <a:r>
              <a:t>•  Resolve Phase 1 blockers (resistor substitution verified, TRRS pins identified with multimeter) and confirm clean, centered ADC signal.</a:t>
            </a:r>
          </a:p>
          <a:p>
            <a:pPr>
              <a:spcAft>
                <a:spcPts val="800"/>
              </a:spcAft>
              <a:defRPr sz="1450">
                <a:solidFill>
                  <a:srgbClr val="2B2B2B"/>
                </a:solidFill>
                <a:latin typeface="Times New Roman"/>
              </a:defRPr>
            </a:pPr>
            <a:r>
              <a:t>•  Complete Phase 2: zero-cross opto circuit wired, firmware reliably captures a transient on every appliance switch-on.</a:t>
            </a:r>
          </a:p>
          <a:p>
            <a:pPr>
              <a:spcAft>
                <a:spcPts val="800"/>
              </a:spcAft>
              <a:defRPr sz="1450">
                <a:solidFill>
                  <a:srgbClr val="2B2B2B"/>
                </a:solidFill>
                <a:latin typeface="Times New Roman"/>
              </a:defRPr>
            </a:pPr>
            <a:r>
              <a:t>•  Complete Phase 3: real fingerprints collected for 4-5 appliances with a first confusion matrix.</a:t>
            </a:r>
          </a:p>
          <a:p>
            <a:pPr>
              <a:spcAft>
                <a:spcPts val="800"/>
              </a:spcAft>
              <a:defRPr sz="1450">
                <a:solidFill>
                  <a:srgbClr val="2B2B2B"/>
                </a:solidFill>
                <a:latin typeface="Times New Roman"/>
              </a:defRPr>
            </a:pPr>
            <a:r>
              <a:t>•  Integrate real fingerprints into the already-working classifier and LCD/dashboard pipeline (Phase 4).</a:t>
            </a:r>
          </a:p>
          <a:p>
            <a:pPr>
              <a:spcAft>
                <a:spcPts val="800"/>
              </a:spcAft>
              <a:defRPr sz="1450">
                <a:solidFill>
                  <a:srgbClr val="2B2B2B"/>
                </a:solidFill>
                <a:latin typeface="Times New Roman"/>
              </a:defRPr>
            </a:pPr>
            <a:r>
              <a:t>•  Begin Phase 5 overlapping-appliance testing if time permits.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85750"/>
            <a:ext cx="8305800" cy="4308873"/>
          </a:xfrm>
        </p:spPr>
        <p:txBody>
          <a:bodyPr/>
          <a:lstStyle/>
          <a:p>
            <a:pPr algn="ctr"/>
            <a:r>
              <a:rPr lang="en-IN" dirty="0"/>
              <a:t>Presentation Checklist</a:t>
            </a:r>
            <a:endParaRPr lang="en-US" dirty="0">
              <a:solidFill>
                <a:srgbClr val="C00000"/>
              </a:solidFill>
            </a:endParaRP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Project title relevance and problem statement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Literature survey and technical background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Project planning and milestone achievement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Hardware procurement and availability of components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Software development and implementation progress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Circuit design, coding, simulation, or prototype development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Percentage of overall project completion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Individual contribution of each team member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Innovation, originality, and technical feasibility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Documentation quality and maintenance of project records</a:t>
            </a:r>
          </a:p>
          <a:p>
            <a:pPr>
              <a:defRPr sz="1400">
                <a:solidFill>
                  <a:srgbClr val="2B2B2B"/>
                </a:solidFill>
                <a:latin typeface="Times New Roman"/>
              </a:defRPr>
            </a:pPr>
            <a:r>
              <a:t>✓  Future work plan and timeline for completion</a:t>
            </a:r>
          </a:p>
        </p:txBody>
      </p:sp>
      <p:sp>
        <p:nvSpPr>
          <p:cNvPr id="4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44066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r>
                        <a:rPr lang="en-US" sz="1050" baseline="0" dirty="0"/>
                        <a:t> 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b="1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PBL</a:t>
                      </a:r>
                      <a:r>
                        <a:rPr lang="en-US" sz="1050" b="1" baseline="0" dirty="0">
                          <a:solidFill>
                            <a:schemeClr val="lt1"/>
                          </a:solidFill>
                          <a:latin typeface="+mn-lt"/>
                          <a:cs typeface="+mn-cs"/>
                        </a:rPr>
                        <a:t>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19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Frame 10"/>
          <p:cNvSpPr/>
          <p:nvPr/>
        </p:nvSpPr>
        <p:spPr>
          <a:xfrm>
            <a:off x="0" y="0"/>
            <a:ext cx="9144000" cy="5143500"/>
          </a:xfrm>
          <a:prstGeom prst="frame">
            <a:avLst>
              <a:gd name="adj1" fmla="val 1791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097173" name="Picture 2" descr="thank you, etiquette, business etiquette, etiquette expert, book, conference, speaker, Julie Blais Comeau, conférence, étiquette, étiquette professionnelle, training, formation, étiquette des affaires, livr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0" y="1657350"/>
            <a:ext cx="4237109" cy="2438400"/>
          </a:xfrm>
          <a:prstGeom prst="rect">
            <a:avLst/>
          </a:prstGeom>
          <a:noFill/>
        </p:spPr>
      </p:pic>
      <p:graphicFrame>
        <p:nvGraphicFramePr>
          <p:cNvPr id="4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47821"/>
              </p:ext>
            </p:extLst>
          </p:nvPr>
        </p:nvGraphicFramePr>
        <p:xfrm>
          <a:off x="66504" y="4781550"/>
          <a:ext cx="8991600" cy="251460"/>
        </p:xfrm>
        <a:graphic>
          <a:graphicData uri="http://schemas.openxmlformats.org/drawingml/2006/table">
            <a:tbl>
              <a:tblPr firstRow="1" bandRow="1">
                <a:tableStyleId>{18603FDC-E32A-4AB5-989C-0864C3EAD2B8}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31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03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01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12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Chennai Institute of Technology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ECE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PBL 1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sz="1050" dirty="0"/>
                        <a:t>Review</a:t>
                      </a:r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7EAA4ACD-EF4C-4C4A-A4DB-36C89073D6BC}" type="datetime1">
                        <a:rPr lang="en-US" sz="1050" smtClean="0"/>
                        <a:pPr marL="0" marR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7/10/2026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tc>
                  <a:txBody>
                    <a:bodyPr/>
                    <a:lstStyle/>
                    <a:p>
                      <a:pPr marL="0" marR="0" lvl="0" indent="0" algn="ctr" defTabSz="13062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fld id="{EBA5458A-C390-44F0-8476-F58E175F6D26}" type="slidenum">
                        <a:rPr lang="en-US" sz="1050" smtClean="0"/>
                        <a:pPr marL="0" marR="0" lvl="0" indent="0" algn="ctr" defTabSz="130622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</a:pPr>
                        <a:t>20</a:t>
                      </a:fld>
                      <a:endParaRPr lang="en-US" sz="1050" b="1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94488" marR="9448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353</Words>
  <Application>Microsoft Office PowerPoint</Application>
  <PresentationFormat>On-screen Show (16:9)</PresentationFormat>
  <Paragraphs>191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Times New Roman</vt:lpstr>
      <vt:lpstr>Tw Cen MT Condensed Extra Bold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Member Responsibilities</vt:lpstr>
      <vt:lpstr>Next Milestone (Review 2)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RAJA</dc:creator>
  <cp:lastModifiedBy>Dhinesh Karthick</cp:lastModifiedBy>
  <cp:revision>20</cp:revision>
  <dcterms:created xsi:type="dcterms:W3CDTF">2006-08-10T12:00:00Z</dcterms:created>
  <dcterms:modified xsi:type="dcterms:W3CDTF">2026-07-10T17:16:07Z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c14087d32b64439f8be0fb77d9797412</vt:lpwstr>
  </property>
</Properties>
</file>